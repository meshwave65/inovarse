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7275" y="798984"/>
            <a:ext cx="7143750" cy="201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94" b="1" spc="7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ECOSSISTEMA INOVARSE:</a:t>
            </a:r>
            <a:r>
              <a:rPr lang="en-US" sz="3294" b="1" spc="7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r>
              <a:rPr lang="en-US" sz="3294" b="1" spc="7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BACKBONE DA BELEZA </a:t>
            </a:r>
            <a:r>
              <a:rPr lang="en-US" sz="3294" b="1" spc="7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INTEGRAL E BEM-ESTAR </a:t>
            </a:r>
            <a:r>
              <a:rPr lang="en-US" sz="3294" b="1" spc="7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2026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1771650" y="3896469"/>
            <a:ext cx="571500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70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Conectando Estética, Saúde e Equilíbrio para uma Transformação 360°.</a:t>
            </a:r>
            <a:endParaRPr lang="en-US" sz="170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7275" y="485775"/>
            <a:ext cx="7143750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spc="4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FRAGMENTAÇÃO DO CUIDADO GERA RESULTADOS SUPERFICIAIS E BAIXA RETENÇÃO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1834158" y="1553766"/>
            <a:ext cx="101441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2" kern="0" dirty="0">
                <a:solidFill>
                  <a:srgbClr val="D53F8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PROBLEMA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55427" y="2007394"/>
            <a:ext cx="357187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cliente busca estética em um lugar, terapia em outro e exercícios em um terceiro. Esta desconexão gera falta de sinergia nos resultados, levando à frustração e ao abandono dos tratamentos.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6235601" y="1553766"/>
            <a:ext cx="136267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2" kern="0" dirty="0">
                <a:solidFill>
                  <a:srgbClr val="D53F8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OPORTUNIDADE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130998" y="2007394"/>
            <a:ext cx="35718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mercado de 2026 exige soluções integrativas onde o "interno" e o "externo" caminham juntos.</a:t>
            </a:r>
            <a:endParaRPr lang="en-US" sz="942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373" y="2761729"/>
            <a:ext cx="2143125" cy="2143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46291" y="4976292"/>
            <a:ext cx="174128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78%</a:t>
            </a:r>
            <a:r>
              <a:rPr lang="en-US" sz="727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preferem abordagens holísticas</a:t>
            </a:r>
            <a:endParaRPr lang="en-US" sz="68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618353"/>
            <a:ext cx="7143750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spc="4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UMA ESTRUTURA INTEGRADA QUE SUSTENTA A JORNADA MCE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1000125" y="1390297"/>
            <a:ext cx="571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Backbone Inovarse é a inteligência de dados, tecnologia de diagnóstico e fluxo de clientes que conecta todos os parceiros.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1235869" y="2247547"/>
            <a:ext cx="571500" cy="571500"/>
          </a:xfrm>
          <a:prstGeom prst="ellipse">
            <a:avLst/>
          </a:prstGeom>
          <a:solidFill>
            <a:srgbClr val="805AD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319" y="2418997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0150" y="3076222"/>
            <a:ext cx="64293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spc="2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MENTE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450056" y="3479843"/>
            <a:ext cx="21431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Suporte psicológico e emocional como base sólida da autoimagem e do bem-estar.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4286250" y="2247547"/>
            <a:ext cx="571500" cy="571500"/>
          </a:xfrm>
          <a:prstGeom prst="ellipse">
            <a:avLst/>
          </a:prstGeom>
          <a:solidFill>
            <a:srgbClr val="805AD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25" y="2418997"/>
            <a:ext cx="28575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51424" y="3076222"/>
            <a:ext cx="64115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spc="2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CORPO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3500438" y="3479843"/>
            <a:ext cx="21431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Estética avançada, saúde física integrativa e performance corporal superior.</a:t>
            </a:r>
            <a:endParaRPr lang="en-US" sz="834" dirty="0"/>
          </a:p>
        </p:txBody>
      </p:sp>
      <p:sp>
        <p:nvSpPr>
          <p:cNvPr id="13" name="Shape 8"/>
          <p:cNvSpPr/>
          <p:nvPr/>
        </p:nvSpPr>
        <p:spPr>
          <a:xfrm>
            <a:off x="7336631" y="2247547"/>
            <a:ext cx="571500" cy="571500"/>
          </a:xfrm>
          <a:prstGeom prst="ellipse">
            <a:avLst/>
          </a:prstGeom>
          <a:solidFill>
            <a:srgbClr val="805AD5"/>
          </a:solidFill>
          <a:ln/>
        </p:spPr>
      </p:sp>
      <p:sp>
        <p:nvSpPr>
          <p:cNvPr id="14" name="Text 9"/>
          <p:cNvSpPr/>
          <p:nvPr/>
        </p:nvSpPr>
        <p:spPr>
          <a:xfrm>
            <a:off x="7199281" y="3076222"/>
            <a:ext cx="84620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spc="2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ESPÍRITO</a:t>
            </a:r>
            <a:endParaRPr lang="en-US" sz="1193" dirty="0"/>
          </a:p>
        </p:txBody>
      </p:sp>
      <p:sp>
        <p:nvSpPr>
          <p:cNvPr id="15" name="Text 10"/>
          <p:cNvSpPr/>
          <p:nvPr/>
        </p:nvSpPr>
        <p:spPr>
          <a:xfrm>
            <a:off x="6550819" y="3479843"/>
            <a:ext cx="21431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Vitalidade, propósito e equilíbrio energético através da Bio Ressonância Quântica.</a:t>
            </a: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429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554059"/>
            <a:ext cx="914400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spc="4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ILHAS DE CAPTAÇÃO: O MOTOR QUE ALIMENTA O ECOSSISTEMA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954584" y="1606395"/>
            <a:ext cx="371475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592" dirty="0">
                <a:solidFill>
                  <a:srgbClr val="D53F8C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592" dirty="0"/>
          </a:p>
        </p:txBody>
      </p:sp>
      <p:sp>
        <p:nvSpPr>
          <p:cNvPr id="5" name="Text 2"/>
          <p:cNvSpPr/>
          <p:nvPr/>
        </p:nvSpPr>
        <p:spPr>
          <a:xfrm>
            <a:off x="780455" y="2258262"/>
            <a:ext cx="71973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spc="2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ATRAÇÃO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247352" y="2654740"/>
            <a:ext cx="178593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Localização estratégica em shoppings de alto tráfego para capturar a atenção imediata.</a:t>
            </a:r>
            <a:endParaRPr lang="en-US" sz="780" dirty="0"/>
          </a:p>
        </p:txBody>
      </p:sp>
      <p:sp>
        <p:nvSpPr>
          <p:cNvPr id="7" name="Text 4"/>
          <p:cNvSpPr/>
          <p:nvPr/>
        </p:nvSpPr>
        <p:spPr>
          <a:xfrm>
            <a:off x="3214688" y="1606395"/>
            <a:ext cx="426839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592" dirty="0">
                <a:solidFill>
                  <a:srgbClr val="D53F8C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592" dirty="0"/>
          </a:p>
        </p:txBody>
      </p:sp>
      <p:sp>
        <p:nvSpPr>
          <p:cNvPr id="8" name="Text 5"/>
          <p:cNvSpPr/>
          <p:nvPr/>
        </p:nvSpPr>
        <p:spPr>
          <a:xfrm>
            <a:off x="2901255" y="2258262"/>
            <a:ext cx="105370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spc="2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DIAGNÓSTICO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2535138" y="2654740"/>
            <a:ext cx="178593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 MCE e Bio Ressonância Quântica geram curiosidade e autoridade instantânea.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5501580" y="1606395"/>
            <a:ext cx="428625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592" dirty="0">
                <a:solidFill>
                  <a:srgbClr val="D53F8C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592" dirty="0"/>
          </a:p>
        </p:txBody>
      </p:sp>
      <p:sp>
        <p:nvSpPr>
          <p:cNvPr id="11" name="Text 8"/>
          <p:cNvSpPr/>
          <p:nvPr/>
        </p:nvSpPr>
        <p:spPr>
          <a:xfrm>
            <a:off x="5148858" y="2258262"/>
            <a:ext cx="113407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spc="2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QUALIFICAÇÃO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822924" y="2654740"/>
            <a:ext cx="178593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Transformamos passantes em leads qualificados com perfil detalhado de necessidades.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7784902" y="1606395"/>
            <a:ext cx="437555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592" dirty="0">
                <a:solidFill>
                  <a:srgbClr val="D53F8C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592" dirty="0"/>
          </a:p>
        </p:txBody>
      </p:sp>
      <p:sp>
        <p:nvSpPr>
          <p:cNvPr id="14" name="Text 11"/>
          <p:cNvSpPr/>
          <p:nvPr/>
        </p:nvSpPr>
        <p:spPr>
          <a:xfrm>
            <a:off x="7309842" y="2258262"/>
            <a:ext cx="138767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spc="2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DIRECIONAMENTO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7110710" y="2654740"/>
            <a:ext cx="178593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Agendamento direto para o parceiro mais adequado (Clínica, Academia ou Terapeuta).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708779" y="4200525"/>
            <a:ext cx="5726441" cy="450056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17" name="Text 14"/>
          <p:cNvSpPr/>
          <p:nvPr/>
        </p:nvSpPr>
        <p:spPr>
          <a:xfrm>
            <a:off x="1708779" y="4200525"/>
            <a:ext cx="5726441" cy="450056"/>
          </a:xfrm>
          <a:prstGeom prst="rect">
            <a:avLst/>
          </a:prstGeom>
          <a:noFill/>
          <a:ln/>
        </p:spPr>
        <p:txBody>
          <a:bodyPr wrap="square" lIns="340233" tIns="170053" rIns="340233" bIns="170053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spc="1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TECNOLOGIA DE BIO RESSONÂNCIA QUÂNTICA: ANÁLISE EM 60 SEGUNDOS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428625"/>
            <a:ext cx="7143750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spc="4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POTENCIALIZE SEUS RESULTADOS CLÍNICOS COM PACIENTES PRÉ-EDUCADOS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296591"/>
            <a:ext cx="342900" cy="342900"/>
          </a:xfrm>
          <a:prstGeom prst="rect">
            <a:avLst/>
          </a:prstGeom>
          <a:solidFill>
            <a:srgbClr val="805AD5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53" y="1396603"/>
            <a:ext cx="178594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8700" y="1296591"/>
            <a:ext cx="345757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FLUXO GARANTIDO</a:t>
            </a:r>
            <a:endParaRPr lang="en-US" sz="987" dirty="0"/>
          </a:p>
        </p:txBody>
      </p:sp>
      <p:sp>
        <p:nvSpPr>
          <p:cNvPr id="7" name="Text 3"/>
          <p:cNvSpPr/>
          <p:nvPr/>
        </p:nvSpPr>
        <p:spPr>
          <a:xfrm>
            <a:off x="1028700" y="1521619"/>
            <a:ext cx="3457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Receba clientes que já entendem que a beleza depende do equilíbrio interno e estão prontos para investir.</a:t>
            </a:r>
            <a:endParaRPr lang="en-US" sz="834" dirty="0"/>
          </a:p>
        </p:txBody>
      </p:sp>
      <p:sp>
        <p:nvSpPr>
          <p:cNvPr id="8" name="Shape 4"/>
          <p:cNvSpPr/>
          <p:nvPr/>
        </p:nvSpPr>
        <p:spPr>
          <a:xfrm>
            <a:off x="4657725" y="1296591"/>
            <a:ext cx="342900" cy="342900"/>
          </a:xfrm>
          <a:prstGeom prst="rect">
            <a:avLst/>
          </a:prstGeom>
          <a:solidFill>
            <a:srgbClr val="805AD5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738" y="1396603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114925" y="1296591"/>
            <a:ext cx="345757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AUMENTO DE TICKET MÉDIO</a:t>
            </a:r>
            <a:endParaRPr lang="en-US" sz="987" dirty="0"/>
          </a:p>
        </p:txBody>
      </p:sp>
      <p:sp>
        <p:nvSpPr>
          <p:cNvPr id="11" name="Text 6"/>
          <p:cNvSpPr/>
          <p:nvPr/>
        </p:nvSpPr>
        <p:spPr>
          <a:xfrm>
            <a:off x="5114925" y="1521619"/>
            <a:ext cx="3457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Programas integrados MCE permitem a venda de pacotes de maior valor agregado e complexidade.</a:t>
            </a:r>
            <a:endParaRPr lang="en-US" sz="834" dirty="0"/>
          </a:p>
        </p:txBody>
      </p:sp>
      <p:sp>
        <p:nvSpPr>
          <p:cNvPr id="12" name="Shape 7"/>
          <p:cNvSpPr/>
          <p:nvPr/>
        </p:nvSpPr>
        <p:spPr>
          <a:xfrm>
            <a:off x="571500" y="2925366"/>
            <a:ext cx="342900" cy="342900"/>
          </a:xfrm>
          <a:prstGeom prst="rect">
            <a:avLst/>
          </a:prstGeom>
          <a:solidFill>
            <a:srgbClr val="805AD5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3" y="3025378"/>
            <a:ext cx="142875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28700" y="2925366"/>
            <a:ext cx="345757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FIDELIZAÇÃO (LTV)</a:t>
            </a:r>
            <a:endParaRPr lang="en-US" sz="987" dirty="0"/>
          </a:p>
        </p:txBody>
      </p:sp>
      <p:sp>
        <p:nvSpPr>
          <p:cNvPr id="15" name="Text 9"/>
          <p:cNvSpPr/>
          <p:nvPr/>
        </p:nvSpPr>
        <p:spPr>
          <a:xfrm>
            <a:off x="1028700" y="3150394"/>
            <a:ext cx="3457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 estéticos são 3x mais duradouros quando a causa emocional e espiritual é tratada em conjunto.</a:t>
            </a:r>
            <a:endParaRPr lang="en-US" sz="834" dirty="0"/>
          </a:p>
        </p:txBody>
      </p:sp>
      <p:sp>
        <p:nvSpPr>
          <p:cNvPr id="16" name="Shape 10"/>
          <p:cNvSpPr/>
          <p:nvPr/>
        </p:nvSpPr>
        <p:spPr>
          <a:xfrm>
            <a:off x="4657725" y="2925366"/>
            <a:ext cx="342900" cy="342900"/>
          </a:xfrm>
          <a:prstGeom prst="rect">
            <a:avLst/>
          </a:prstGeom>
          <a:solidFill>
            <a:srgbClr val="805AD5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738" y="3025378"/>
            <a:ext cx="142875" cy="1428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114925" y="2925366"/>
            <a:ext cx="345757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SUPORTE E PROTOCOLOS</a:t>
            </a:r>
            <a:endParaRPr lang="en-US" sz="987" dirty="0"/>
          </a:p>
        </p:txBody>
      </p:sp>
      <p:sp>
        <p:nvSpPr>
          <p:cNvPr id="19" name="Text 12"/>
          <p:cNvSpPr/>
          <p:nvPr/>
        </p:nvSpPr>
        <p:spPr>
          <a:xfrm>
            <a:off x="5114925" y="3150394"/>
            <a:ext cx="3457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Acesso a metodologias exclusivas Inovarse para potencializar seus equipamentos e serviços atuais.</a:t>
            </a:r>
            <a:endParaRPr lang="en-US" sz="834" dirty="0"/>
          </a:p>
        </p:txBody>
      </p:sp>
      <p:sp>
        <p:nvSpPr>
          <p:cNvPr id="20" name="Shape 13"/>
          <p:cNvSpPr/>
          <p:nvPr/>
        </p:nvSpPr>
        <p:spPr>
          <a:xfrm>
            <a:off x="0" y="4525566"/>
            <a:ext cx="9144000" cy="3321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4"/>
          <p:cNvSpPr/>
          <p:nvPr/>
        </p:nvSpPr>
        <p:spPr>
          <a:xfrm>
            <a:off x="0" y="4525566"/>
            <a:ext cx="9144000" cy="7144"/>
          </a:xfrm>
          <a:prstGeom prst="rect">
            <a:avLst/>
          </a:prstGeom>
          <a:solidFill>
            <a:srgbClr val="E4E5E7"/>
          </a:solidFill>
          <a:ln/>
        </p:spPr>
      </p:sp>
      <p:sp>
        <p:nvSpPr>
          <p:cNvPr id="22" name="Text 15"/>
          <p:cNvSpPr/>
          <p:nvPr/>
        </p:nvSpPr>
        <p:spPr>
          <a:xfrm>
            <a:off x="0" y="4675584"/>
            <a:ext cx="914400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53F8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estética é o convite, a transformação integral é o produto.</a:t>
            </a:r>
            <a:endParaRPr lang="en-US" sz="98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7275" y="485775"/>
            <a:ext cx="7143750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spc="4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PERFORMANCE FÍSICA SUSTENTADA PELO EQUILÍBRIO METABÓLICO E MENTAL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613" y="1639491"/>
            <a:ext cx="214313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3513" y="2246709"/>
            <a:ext cx="123051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spc="2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DIFERENCIAÇÃO</a:t>
            </a:r>
            <a:endParaRPr lang="en-US" sz="987" dirty="0"/>
          </a:p>
        </p:txBody>
      </p:sp>
      <p:sp>
        <p:nvSpPr>
          <p:cNvPr id="6" name="Text 2"/>
          <p:cNvSpPr/>
          <p:nvPr/>
        </p:nvSpPr>
        <p:spPr>
          <a:xfrm>
            <a:off x="435769" y="2650331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 sua academia em um centro de longevidade, indo além do fitness tradicional para o bem-estar 360°.</a:t>
            </a:r>
            <a:endParaRPr lang="en-US" sz="834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275" y="1639491"/>
            <a:ext cx="285750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091583" y="2246709"/>
            <a:ext cx="107513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spc="2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BIOFEEDBACK</a:t>
            </a:r>
            <a:endParaRPr lang="en-US" sz="987" dirty="0"/>
          </a:p>
        </p:txBody>
      </p:sp>
      <p:sp>
        <p:nvSpPr>
          <p:cNvPr id="9" name="Text 4"/>
          <p:cNvSpPr/>
          <p:nvPr/>
        </p:nvSpPr>
        <p:spPr>
          <a:xfrm>
            <a:off x="3486150" y="2650331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 dados precisos da Bio Ressonância para personalizar treinos e nutrição com base no estado real do aluno.</a:t>
            </a:r>
            <a:endParaRPr lang="en-US" sz="834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6656" y="1639491"/>
            <a:ext cx="285750" cy="285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53560" y="2246709"/>
            <a:ext cx="125194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spc="2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CROSS-SELLING</a:t>
            </a:r>
            <a:endParaRPr lang="en-US" sz="987" dirty="0"/>
          </a:p>
        </p:txBody>
      </p:sp>
      <p:sp>
        <p:nvSpPr>
          <p:cNvPr id="12" name="Text 6"/>
          <p:cNvSpPr/>
          <p:nvPr/>
        </p:nvSpPr>
        <p:spPr>
          <a:xfrm>
            <a:off x="6536531" y="2650331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Receba um fluxo contínuo de clientes da estética que buscam tonificação e performance física como parte da jornada.</a:t>
            </a:r>
            <a:endParaRPr lang="en-US" sz="834" dirty="0"/>
          </a:p>
        </p:txBody>
      </p:sp>
      <p:sp>
        <p:nvSpPr>
          <p:cNvPr id="13" name="Text 7"/>
          <p:cNvSpPr/>
          <p:nvPr/>
        </p:nvSpPr>
        <p:spPr>
          <a:xfrm>
            <a:off x="57150" y="4750594"/>
            <a:ext cx="9144000" cy="450056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spc="1" kern="0" dirty="0">
                <a:solidFill>
                  <a:srgbClr val="805AD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RESULTADOS QUE VÃO ALÉM DA BALANÇA: RETENÇÃO E LONGEVIDADE.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7275" y="485775"/>
            <a:ext cx="7143750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spc="4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BELEZA COMO PORTA DE ENTRADA PARA A SAÚDE MENTAL PROFUNDA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460897"/>
            <a:ext cx="192881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71675" y="1496616"/>
            <a:ext cx="25146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NOVOS HORIZONTES</a:t>
            </a:r>
            <a:endParaRPr lang="en-US" sz="885" dirty="0"/>
          </a:p>
        </p:txBody>
      </p:sp>
      <p:sp>
        <p:nvSpPr>
          <p:cNvPr id="6" name="Text 2"/>
          <p:cNvSpPr/>
          <p:nvPr/>
        </p:nvSpPr>
        <p:spPr>
          <a:xfrm>
            <a:off x="1971675" y="1696641"/>
            <a:ext cx="25146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Acesse um público que talvez nunca procurasse terapia, mas revela desequilíbrios no Teste MCE.</a:t>
            </a:r>
            <a:endParaRPr lang="en-US" sz="834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463" y="1460897"/>
            <a:ext cx="214313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29238" y="1496616"/>
            <a:ext cx="25146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TRABALHO MULTIDISCIPLINAR</a:t>
            </a:r>
            <a:endParaRPr lang="en-US" sz="885" dirty="0"/>
          </a:p>
        </p:txBody>
      </p:sp>
      <p:sp>
        <p:nvSpPr>
          <p:cNvPr id="9" name="Text 4"/>
          <p:cNvSpPr/>
          <p:nvPr/>
        </p:nvSpPr>
        <p:spPr>
          <a:xfrm>
            <a:off x="5329238" y="1696641"/>
            <a:ext cx="25146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Atue em conjunto com esteticistas para tratar a psicodermatologia e questões de autoimagem.</a:t>
            </a:r>
            <a:endParaRPr lang="en-US" sz="834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7331" y="3268266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71675" y="3303984"/>
            <a:ext cx="25146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TERAPIAS ALTERNATIVAS</a:t>
            </a:r>
            <a:endParaRPr lang="en-US" sz="885" dirty="0"/>
          </a:p>
        </p:txBody>
      </p:sp>
      <p:sp>
        <p:nvSpPr>
          <p:cNvPr id="12" name="Text 6"/>
          <p:cNvSpPr/>
          <p:nvPr/>
        </p:nvSpPr>
        <p:spPr>
          <a:xfrm>
            <a:off x="1971675" y="3504009"/>
            <a:ext cx="25146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Espaço valorizado para práticas que equilibram o "Espírito" e a energia vital do paciente.</a:t>
            </a:r>
            <a:endParaRPr lang="en-US" sz="834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6325" y="3268266"/>
            <a:ext cx="128588" cy="1714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329238" y="3303984"/>
            <a:ext cx="25146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FERRAMENTA DE DIAGNÓSTICO</a:t>
            </a:r>
            <a:endParaRPr lang="en-US" sz="885" dirty="0"/>
          </a:p>
        </p:txBody>
      </p:sp>
      <p:sp>
        <p:nvSpPr>
          <p:cNvPr id="15" name="Text 8"/>
          <p:cNvSpPr/>
          <p:nvPr/>
        </p:nvSpPr>
        <p:spPr>
          <a:xfrm>
            <a:off x="5329238" y="3504009"/>
            <a:ext cx="25146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Teste MCE serve como um excelente quebra-gelo e base inicial para o processo terapêutico.</a:t>
            </a:r>
            <a:endParaRPr lang="en-US" sz="834" dirty="0"/>
          </a:p>
        </p:txBody>
      </p:sp>
      <p:sp>
        <p:nvSpPr>
          <p:cNvPr id="16" name="Text 9"/>
          <p:cNvSpPr/>
          <p:nvPr/>
        </p:nvSpPr>
        <p:spPr>
          <a:xfrm>
            <a:off x="57150" y="4768453"/>
            <a:ext cx="9144000" cy="432197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spc="1" kern="0" dirty="0">
                <a:solidFill>
                  <a:srgbClr val="D53F8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CUIDANDO DA MENTE PARA QUE O CORPO REFLITA A VERDADEIRA BELEZA.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618353"/>
            <a:ext cx="914400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spc="4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DECISÕES BASEADAS EM DADOS, NÃO EM SUPOSIÇÕES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41" y="1683190"/>
            <a:ext cx="150019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3916" y="1663545"/>
            <a:ext cx="208597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805AD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BIO RESSONÂNCIA QUÂNTICA</a:t>
            </a:r>
            <a:endParaRPr lang="en-US" sz="987" dirty="0"/>
          </a:p>
        </p:txBody>
      </p:sp>
      <p:sp>
        <p:nvSpPr>
          <p:cNvPr id="6" name="Text 2"/>
          <p:cNvSpPr/>
          <p:nvPr/>
        </p:nvSpPr>
        <p:spPr>
          <a:xfrm>
            <a:off x="666741" y="1960011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Tecnologia de ponta para análise não invasiva de mais de 30 parâmetros de saúde em apenas 60 segundos.</a:t>
            </a:r>
            <a:endParaRPr lang="en-US" sz="834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41" y="2865481"/>
            <a:ext cx="114300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8197" y="2845836"/>
            <a:ext cx="104120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805AD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 INOVARSE</a:t>
            </a:r>
            <a:endParaRPr lang="en-US" sz="987" dirty="0"/>
          </a:p>
        </p:txBody>
      </p:sp>
      <p:sp>
        <p:nvSpPr>
          <p:cNvPr id="9" name="Text 4"/>
          <p:cNvSpPr/>
          <p:nvPr/>
        </p:nvSpPr>
        <p:spPr>
          <a:xfrm>
            <a:off x="666741" y="3142301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cliente carrega seu "passaporte de bem-estar" digital, integrando dados de todos os parceiros do ecossistema.</a:t>
            </a:r>
            <a:endParaRPr lang="en-US" sz="834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5356" y="1683190"/>
            <a:ext cx="167878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180391" y="1663545"/>
            <a:ext cx="189845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805AD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 DO PARCEIRO</a:t>
            </a:r>
            <a:endParaRPr lang="en-US" sz="987" dirty="0"/>
          </a:p>
        </p:txBody>
      </p:sp>
      <p:sp>
        <p:nvSpPr>
          <p:cNvPr id="12" name="Shape 6"/>
          <p:cNvSpPr/>
          <p:nvPr/>
        </p:nvSpPr>
        <p:spPr>
          <a:xfrm>
            <a:off x="4905356" y="1917148"/>
            <a:ext cx="3571875" cy="2443163"/>
          </a:xfrm>
          <a:prstGeom prst="rect">
            <a:avLst/>
          </a:prstGeom>
          <a:solidFill>
            <a:srgbClr val="FFFFFF"/>
          </a:solidFill>
          <a:ln w="9144">
            <a:solidFill>
              <a:srgbClr val="2D3748">
                <a:alpha val="6000"/>
              </a:srgbClr>
            </a:solidFill>
            <a:prstDash val="solid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231" y="2060023"/>
            <a:ext cx="3271838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" y="675503"/>
            <a:ext cx="914400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spc="4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UM ECOSSISTEMA ONDE TODOS OS PARCEIROS PROSPERAM JUNTOS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1328738" y="1613539"/>
            <a:ext cx="500063" cy="500063"/>
          </a:xfrm>
          <a:prstGeom prst="ellipse">
            <a:avLst/>
          </a:prstGeom>
          <a:solidFill>
            <a:srgbClr val="805AD5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255" y="1763557"/>
            <a:ext cx="225028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3996" y="2370776"/>
            <a:ext cx="180951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RECEITA COMPARTILHADA</a:t>
            </a:r>
            <a:endParaRPr lang="en-US" sz="885" dirty="0"/>
          </a:p>
        </p:txBody>
      </p:sp>
      <p:sp>
        <p:nvSpPr>
          <p:cNvPr id="7" name="Text 3"/>
          <p:cNvSpPr/>
          <p:nvPr/>
        </p:nvSpPr>
        <p:spPr>
          <a:xfrm>
            <a:off x="435769" y="2713676"/>
            <a:ext cx="2286000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Modelos de comissionamento transparentes sobre serviços e produtos, gerando nova fonte de receita para o parceiro.</a:t>
            </a:r>
            <a:endParaRPr lang="en-US" sz="780" dirty="0"/>
          </a:p>
        </p:txBody>
      </p:sp>
      <p:sp>
        <p:nvSpPr>
          <p:cNvPr id="8" name="Shape 4"/>
          <p:cNvSpPr/>
          <p:nvPr/>
        </p:nvSpPr>
        <p:spPr>
          <a:xfrm>
            <a:off x="4379119" y="1613539"/>
            <a:ext cx="500063" cy="500063"/>
          </a:xfrm>
          <a:prstGeom prst="ellipse">
            <a:avLst/>
          </a:prstGeom>
          <a:solidFill>
            <a:srgbClr val="805AD5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636" y="1763557"/>
            <a:ext cx="225028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021206" y="2370776"/>
            <a:ext cx="121588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REDUÇÃO DE CAC</a:t>
            </a:r>
            <a:endParaRPr lang="en-US" sz="885" dirty="0"/>
          </a:p>
        </p:txBody>
      </p:sp>
      <p:sp>
        <p:nvSpPr>
          <p:cNvPr id="11" name="Text 6"/>
          <p:cNvSpPr/>
          <p:nvPr/>
        </p:nvSpPr>
        <p:spPr>
          <a:xfrm>
            <a:off x="3486150" y="2713676"/>
            <a:ext cx="2286000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Inovarse assume o custo e o esforço da captação inicial nas ilhas, entregando o lead já qualificado e educado.</a:t>
            </a:r>
            <a:endParaRPr lang="en-US" sz="780" dirty="0"/>
          </a:p>
        </p:txBody>
      </p:sp>
      <p:sp>
        <p:nvSpPr>
          <p:cNvPr id="12" name="Shape 7"/>
          <p:cNvSpPr/>
          <p:nvPr/>
        </p:nvSpPr>
        <p:spPr>
          <a:xfrm>
            <a:off x="7429500" y="1613539"/>
            <a:ext cx="500063" cy="500063"/>
          </a:xfrm>
          <a:prstGeom prst="ellipse">
            <a:avLst/>
          </a:prstGeom>
          <a:solidFill>
            <a:srgbClr val="805AD5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9519" y="1763557"/>
            <a:ext cx="200025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18877" y="2370776"/>
            <a:ext cx="172130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MARKETING COOPERADO</a:t>
            </a:r>
            <a:endParaRPr lang="en-US" sz="885" dirty="0"/>
          </a:p>
        </p:txBody>
      </p:sp>
      <p:sp>
        <p:nvSpPr>
          <p:cNvPr id="15" name="Text 9"/>
          <p:cNvSpPr/>
          <p:nvPr/>
        </p:nvSpPr>
        <p:spPr>
          <a:xfrm>
            <a:off x="6536531" y="2713676"/>
            <a:ext cx="2286000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Sua marca associada a um movimento nacional de vanguarda, com visibilidade em shoppings e mídias digitais.</a:t>
            </a:r>
            <a:endParaRPr lang="en-US" sz="780" dirty="0"/>
          </a:p>
        </p:txBody>
      </p:sp>
      <p:sp>
        <p:nvSpPr>
          <p:cNvPr id="16" name="Text 10"/>
          <p:cNvSpPr/>
          <p:nvPr/>
        </p:nvSpPr>
        <p:spPr>
          <a:xfrm>
            <a:off x="57150" y="4570214"/>
            <a:ext cx="9144000" cy="630436"/>
          </a:xfrm>
          <a:prstGeom prst="rect">
            <a:avLst/>
          </a:prstGeom>
          <a:noFill/>
          <a:ln/>
        </p:spPr>
        <p:txBody>
          <a:bodyPr wrap="square" lIns="0" tIns="204089" rIns="0" bIns="306197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9" spc="3" kern="0" dirty="0">
                <a:solidFill>
                  <a:srgbClr val="D53F8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SINERGIA QUE GERA LUCRATIVIDADE E AUTORIDADE.</a:t>
            </a:r>
            <a:endParaRPr lang="en-US" sz="115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953495"/>
            <a:ext cx="91440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spc="6" kern="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SEJA O BACKBONE DA BELEZA INTEGRAL NA SUA REGIÃO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1357313" y="2214367"/>
            <a:ext cx="64293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805A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Seleção de Parceiros:</a:t>
            </a:r>
            <a:r>
              <a:rPr lang="en-US" sz="1269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Buscamos os líderes de cada segmento para formar os </a:t>
            </a:r>
            <a:r>
              <a:rPr lang="en-US" sz="1269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primeiros Hubs Regionais.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1357313" y="2865844"/>
            <a:ext cx="64293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805A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Reunião de Viabilidade:</a:t>
            </a:r>
            <a:r>
              <a:rPr lang="en-US" sz="1269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Agende uma conversa técnica para entender como </a:t>
            </a:r>
            <a:r>
              <a:rPr lang="en-US" sz="1269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sua estrutura se encaixa no ecossistema.</a:t>
            </a:r>
            <a:endParaRPr lang="en-US" sz="119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178" y="3794141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96778" y="3774495"/>
            <a:ext cx="146982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www.inovarse.com.br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355" y="3794141"/>
            <a:ext cx="142875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80955" y="3774495"/>
            <a:ext cx="179486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contato@inovarse.com.br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1741289" y="4242411"/>
            <a:ext cx="566142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spc="4" kern="0" dirty="0">
                <a:solidFill>
                  <a:srgbClr val="2D3748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FUTURO É COLABORATIVO. O FUTURO É INOVARSE.</a:t>
            </a:r>
            <a:endParaRPr lang="en-US" sz="126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2026-04-06T00:56:37Z</dcterms:created>
  <dcterms:modified xsi:type="dcterms:W3CDTF">2026-04-06T00:56:37Z</dcterms:modified>
</cp:coreProperties>
</file>